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6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1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37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4"/>
        <p:guide pos="37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18.svg"/><Relationship Id="rId15" Type="http://schemas.openxmlformats.org/officeDocument/2006/relationships/image" Target="../media/image17.png"/><Relationship Id="rId14" Type="http://schemas.openxmlformats.org/officeDocument/2006/relationships/image" Target="../media/image16.svg"/><Relationship Id="rId13" Type="http://schemas.openxmlformats.org/officeDocument/2006/relationships/image" Target="../media/image15.png"/><Relationship Id="rId12" Type="http://schemas.openxmlformats.org/officeDocument/2006/relationships/image" Target="../media/image14.svg"/><Relationship Id="rId11" Type="http://schemas.openxmlformats.org/officeDocument/2006/relationships/image" Target="../media/image13.png"/><Relationship Id="rId10" Type="http://schemas.openxmlformats.org/officeDocument/2006/relationships/image" Target="../media/image12.sv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image" Target="../media/image26.svg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6.svg"/><Relationship Id="rId1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2.xml"/><Relationship Id="rId18" Type="http://schemas.openxmlformats.org/officeDocument/2006/relationships/image" Target="../media/image31.png"/><Relationship Id="rId17" Type="http://schemas.openxmlformats.org/officeDocument/2006/relationships/tags" Target="../tags/tag15.xml"/><Relationship Id="rId16" Type="http://schemas.openxmlformats.org/officeDocument/2006/relationships/image" Target="../media/image30.png"/><Relationship Id="rId15" Type="http://schemas.openxmlformats.org/officeDocument/2006/relationships/tags" Target="../tags/tag14.xml"/><Relationship Id="rId14" Type="http://schemas.openxmlformats.org/officeDocument/2006/relationships/image" Target="../media/image29.png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6.png"/><Relationship Id="rId8" Type="http://schemas.openxmlformats.org/officeDocument/2006/relationships/image" Target="../media/image16.svg"/><Relationship Id="rId7" Type="http://schemas.openxmlformats.org/officeDocument/2006/relationships/image" Target="../media/image15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5.svg"/><Relationship Id="rId3" Type="http://schemas.openxmlformats.org/officeDocument/2006/relationships/image" Target="../media/image34.png"/><Relationship Id="rId2" Type="http://schemas.openxmlformats.org/officeDocument/2006/relationships/image" Target="../media/image33.sv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41.svg"/><Relationship Id="rId13" Type="http://schemas.openxmlformats.org/officeDocument/2006/relationships/image" Target="../media/image40.png"/><Relationship Id="rId12" Type="http://schemas.openxmlformats.org/officeDocument/2006/relationships/image" Target="../media/image39.svg"/><Relationship Id="rId11" Type="http://schemas.openxmlformats.org/officeDocument/2006/relationships/image" Target="../media/image38.png"/><Relationship Id="rId10" Type="http://schemas.openxmlformats.org/officeDocument/2006/relationships/image" Target="../media/image37.svg"/><Relationship Id="rId1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-635" y="1401445"/>
            <a:ext cx="12192635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50000"/>
              </a:lnSpc>
            </a:pPr>
            <a:r>
              <a:rPr lang="en-US" altLang="zh-CN" sz="6000" b="1">
                <a:latin typeface="Times New Roman" panose="02020603050405020304" charset="0"/>
                <a:cs typeface="Times New Roman" panose="02020603050405020304" charset="0"/>
              </a:rPr>
              <a:t>MetaboTrack API</a:t>
            </a:r>
            <a:endParaRPr lang="en-US" altLang="zh-CN" sz="44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XJCO3011 Coursework 1</a:t>
            </a: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Xun Hu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Student ID: 2022116044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图片 4" descr="卡路里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86850" y="1867535"/>
            <a:ext cx="742950" cy="7429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对角圆角矩形 3"/>
          <p:cNvSpPr/>
          <p:nvPr/>
        </p:nvSpPr>
        <p:spPr>
          <a:xfrm>
            <a:off x="128270" y="6350"/>
            <a:ext cx="3898900" cy="592455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4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Overview &amp; Deliverables</a:t>
            </a:r>
            <a:endParaRPr lang="en-US" altLang="zh-CN" sz="24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11455" y="814705"/>
            <a:ext cx="7087235" cy="329057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20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Core: 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Data-driven RESTful API</a:t>
            </a:r>
            <a:endParaRPr lang="en-US" altLang="zh-CN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Scale: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Manages 15,000+ physiological records </a:t>
            </a:r>
            <a:endParaRPr lang="en-US" altLang="zh-CN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Innovation: 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Beyond CRUD — An Analytical Insight </a:t>
            </a:r>
            <a:endParaRPr lang="en-US" altLang="zh-CN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Engine Key Features: 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Predictive simulations &amp; Macro-level health trends</a:t>
            </a:r>
            <a:endParaRPr lang="en-US" altLang="zh-CN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20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Data Source: 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Kaggle - Calorie Efficiency Dataset</a:t>
            </a:r>
            <a:endParaRPr lang="en-US" altLang="zh-CN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15265" y="804545"/>
            <a:ext cx="62426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</a:rPr>
              <a:t>Project Overview</a:t>
            </a:r>
            <a:endParaRPr lang="en-US" altLang="zh-CN" b="1" i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图片 7" descr="项目总览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00910" y="866775"/>
            <a:ext cx="269875" cy="24447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7487285" y="804545"/>
            <a:ext cx="4463415" cy="33007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accent3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lnSpc>
                <a:spcPct val="25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GitHub Repository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25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API Documentation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250000"/>
              </a:lnSpc>
            </a:pPr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Technical Report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487920" y="804545"/>
            <a:ext cx="44627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</a:rPr>
              <a:t>D</a:t>
            </a:r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</a:rPr>
              <a:t>eliverables</a:t>
            </a:r>
            <a:endParaRPr lang="en-US" altLang="zh-CN" b="1" i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2" name="图片 11" descr="github (1)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83245" y="1672590"/>
            <a:ext cx="509905" cy="509905"/>
          </a:xfrm>
          <a:prstGeom prst="rect">
            <a:avLst/>
          </a:prstGeom>
        </p:spPr>
      </p:pic>
      <p:pic>
        <p:nvPicPr>
          <p:cNvPr id="13" name="图片 12" descr="API文档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3570" y="2393315"/>
            <a:ext cx="420370" cy="420370"/>
          </a:xfrm>
          <a:prstGeom prst="rect">
            <a:avLst/>
          </a:prstGeom>
        </p:spPr>
      </p:pic>
      <p:pic>
        <p:nvPicPr>
          <p:cNvPr id="14" name="图片 13" descr="技术报告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77860" y="3089275"/>
            <a:ext cx="360680" cy="360680"/>
          </a:xfrm>
          <a:prstGeom prst="rect">
            <a:avLst/>
          </a:prstGeom>
        </p:spPr>
      </p:pic>
      <p:sp>
        <p:nvSpPr>
          <p:cNvPr id="15" name="圆角矩形 14"/>
          <p:cNvSpPr/>
          <p:nvPr/>
        </p:nvSpPr>
        <p:spPr>
          <a:xfrm>
            <a:off x="211455" y="4485640"/>
            <a:ext cx="11739880" cy="609600"/>
          </a:xfrm>
          <a:prstGeom prst="round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Technical Stack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流程图: 终止 17"/>
          <p:cNvSpPr/>
          <p:nvPr/>
        </p:nvSpPr>
        <p:spPr>
          <a:xfrm>
            <a:off x="211455" y="5438140"/>
            <a:ext cx="2398395" cy="736600"/>
          </a:xfrm>
          <a:prstGeom prst="flowChartTerminator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accent6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   JAVA 17</a:t>
            </a:r>
            <a:endParaRPr lang="en-US" altLang="zh-CN" b="1">
              <a:solidFill>
                <a:schemeClr val="accent6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7" name="图片 16" descr="java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6885" y="5520690"/>
            <a:ext cx="570865" cy="570865"/>
          </a:xfrm>
          <a:prstGeom prst="rect">
            <a:avLst/>
          </a:prstGeom>
        </p:spPr>
      </p:pic>
      <p:sp>
        <p:nvSpPr>
          <p:cNvPr id="19" name="流程图: 终止 18"/>
          <p:cNvSpPr/>
          <p:nvPr/>
        </p:nvSpPr>
        <p:spPr>
          <a:xfrm>
            <a:off x="3071495" y="5438140"/>
            <a:ext cx="2651760" cy="736600"/>
          </a:xfrm>
          <a:prstGeom prst="flowChartTerminator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4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   SpringBoot 3</a:t>
            </a:r>
            <a:endParaRPr lang="en-US" altLang="zh-CN" b="1">
              <a:solidFill>
                <a:schemeClr val="accent4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0" name="图片 19" descr="springboot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253740" y="5551170"/>
            <a:ext cx="521335" cy="521335"/>
          </a:xfrm>
          <a:prstGeom prst="rect">
            <a:avLst/>
          </a:prstGeom>
        </p:spPr>
      </p:pic>
      <p:sp>
        <p:nvSpPr>
          <p:cNvPr id="21" name="流程图: 终止 20"/>
          <p:cNvSpPr/>
          <p:nvPr/>
        </p:nvSpPr>
        <p:spPr>
          <a:xfrm>
            <a:off x="6184900" y="5438140"/>
            <a:ext cx="2651760" cy="736600"/>
          </a:xfrm>
          <a:prstGeom prst="flowChartTerminator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   M</a:t>
            </a:r>
            <a:r>
              <a:rPr lang="en-US" altLang="zh-CN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ySQL 8</a:t>
            </a:r>
            <a:endParaRPr lang="en-US" altLang="zh-CN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2" name="图片 21" descr="mysql (3)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29070" y="5551170"/>
            <a:ext cx="514985" cy="514985"/>
          </a:xfrm>
          <a:prstGeom prst="rect">
            <a:avLst/>
          </a:prstGeom>
        </p:spPr>
      </p:pic>
      <p:sp>
        <p:nvSpPr>
          <p:cNvPr id="23" name="流程图: 终止 22"/>
          <p:cNvSpPr/>
          <p:nvPr/>
        </p:nvSpPr>
        <p:spPr>
          <a:xfrm>
            <a:off x="9298305" y="5438140"/>
            <a:ext cx="2651760" cy="736600"/>
          </a:xfrm>
          <a:prstGeom prst="flowChartTerminator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>
                <a:lumMod val="85000"/>
                <a:lumOff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   MyBatis-Plus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4" name="图片 23" descr="mybatis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91650" y="5551170"/>
            <a:ext cx="558800" cy="4737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对角圆角矩形 3"/>
          <p:cNvSpPr/>
          <p:nvPr/>
        </p:nvSpPr>
        <p:spPr>
          <a:xfrm>
            <a:off x="128270" y="6350"/>
            <a:ext cx="3898900" cy="592455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4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Version Control Practices</a:t>
            </a:r>
            <a:endParaRPr lang="en-US" altLang="zh-CN" sz="24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905" y="4090035"/>
            <a:ext cx="4467225" cy="26479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rcRect b="41971"/>
          <a:stretch>
            <a:fillRect/>
          </a:stretch>
        </p:blipFill>
        <p:spPr>
          <a:xfrm>
            <a:off x="6294755" y="1005840"/>
            <a:ext cx="4267200" cy="308419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rcRect b="47997"/>
          <a:stretch>
            <a:fillRect/>
          </a:stretch>
        </p:blipFill>
        <p:spPr>
          <a:xfrm>
            <a:off x="6294755" y="4173220"/>
            <a:ext cx="5248275" cy="248158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rcRect t="95289"/>
          <a:stretch>
            <a:fillRect/>
          </a:stretch>
        </p:blipFill>
        <p:spPr>
          <a:xfrm>
            <a:off x="346710" y="3564890"/>
            <a:ext cx="5182235" cy="3721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710" y="2836545"/>
            <a:ext cx="5181600" cy="73342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710" y="941070"/>
            <a:ext cx="5180965" cy="1895475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>
          <a:xfrm>
            <a:off x="300355" y="903605"/>
            <a:ext cx="5266055" cy="3051175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6294755" y="903605"/>
            <a:ext cx="5426710" cy="5869305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300355" y="4043045"/>
            <a:ext cx="5266055" cy="2694940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圆角矩形 14"/>
          <p:cNvSpPr/>
          <p:nvPr/>
        </p:nvSpPr>
        <p:spPr>
          <a:xfrm>
            <a:off x="10390505" y="1213485"/>
            <a:ext cx="1233805" cy="1495425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28575"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000" b="1">
                <a:solidFill>
                  <a:schemeClr val="accent5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Commit History</a:t>
            </a:r>
            <a:endParaRPr lang="en-US" altLang="zh-CN" sz="2000" b="1">
              <a:solidFill>
                <a:schemeClr val="accent5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sz="2000" b="1">
                <a:solidFill>
                  <a:schemeClr val="accent5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(Partial)</a:t>
            </a:r>
            <a:endParaRPr lang="en-US" altLang="zh-CN" sz="2000" b="1">
              <a:solidFill>
                <a:schemeClr val="accent5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4243705" y="4173220"/>
            <a:ext cx="1233805" cy="1495425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28575"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000" b="1">
                <a:solidFill>
                  <a:schemeClr val="accent5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Commit H</a:t>
            </a:r>
            <a:r>
              <a:rPr lang="en-US" altLang="zh-CN" sz="2000" b="1">
                <a:solidFill>
                  <a:schemeClr val="accent5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istory</a:t>
            </a:r>
            <a:endParaRPr lang="en-US" altLang="zh-CN" sz="2000" b="1">
              <a:solidFill>
                <a:schemeClr val="accent5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sz="2000" b="1">
                <a:solidFill>
                  <a:schemeClr val="accent5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(Partial)</a:t>
            </a:r>
            <a:endParaRPr lang="en-US" altLang="zh-CN" sz="2000" b="1">
              <a:solidFill>
                <a:schemeClr val="accent5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2161540" y="969645"/>
            <a:ext cx="3265170" cy="5207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28575">
            <a:solidFill>
              <a:schemeClr val="accent6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000" b="1">
                <a:solidFill>
                  <a:schemeClr val="accent5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Version Control with IDEA</a:t>
            </a:r>
            <a:endParaRPr lang="en-US" altLang="zh-CN" sz="2000" b="1">
              <a:solidFill>
                <a:schemeClr val="accent5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9" name="图片 18" descr="icons8-intellij-idea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648335"/>
            <a:ext cx="642620" cy="642620"/>
          </a:xfrm>
          <a:prstGeom prst="rect">
            <a:avLst/>
          </a:prstGeom>
        </p:spPr>
      </p:pic>
      <p:pic>
        <p:nvPicPr>
          <p:cNvPr id="20" name="图片 19" descr="github (1)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3837940"/>
            <a:ext cx="509905" cy="509905"/>
          </a:xfrm>
          <a:prstGeom prst="rect">
            <a:avLst/>
          </a:prstGeom>
        </p:spPr>
      </p:pic>
      <p:pic>
        <p:nvPicPr>
          <p:cNvPr id="21" name="图片 20" descr="github (1)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64250" y="648335"/>
            <a:ext cx="509905" cy="5099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对角圆角矩形 4"/>
          <p:cNvSpPr/>
          <p:nvPr/>
        </p:nvSpPr>
        <p:spPr>
          <a:xfrm>
            <a:off x="128270" y="6350"/>
            <a:ext cx="4199255" cy="592455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4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API Documentation Overview</a:t>
            </a:r>
            <a:endParaRPr lang="en-US" altLang="zh-CN" sz="24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0" y="1114425"/>
            <a:ext cx="6118225" cy="432879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70" y="5901055"/>
            <a:ext cx="6664960" cy="721360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78740" y="687705"/>
            <a:ext cx="6795135" cy="6062980"/>
          </a:xfrm>
          <a:prstGeom prst="rect">
            <a:avLst/>
          </a:prstGeom>
          <a:noFill/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210820" y="5460365"/>
            <a:ext cx="2817495" cy="371475"/>
          </a:xfrm>
          <a:prstGeom prst="roundRect">
            <a:avLst/>
          </a:prstGeom>
          <a:solidFill>
            <a:schemeClr val="bg2">
              <a:lumMod val="25000"/>
            </a:schemeClr>
          </a:solidFill>
          <a:ln w="28575"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bg2"/>
                </a:solidFill>
                <a:latin typeface="Times New Roman" panose="02020603050405020304" charset="0"/>
                <a:cs typeface="Times New Roman" panose="02020603050405020304" charset="0"/>
              </a:rPr>
              <a:t>Code Example</a:t>
            </a:r>
            <a:endParaRPr lang="en-US" altLang="zh-CN" b="1">
              <a:solidFill>
                <a:schemeClr val="bg2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10820" y="725170"/>
            <a:ext cx="3790950" cy="371475"/>
          </a:xfrm>
          <a:prstGeom prst="roundRect">
            <a:avLst/>
          </a:prstGeom>
          <a:solidFill>
            <a:schemeClr val="bg2"/>
          </a:solidFill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bg2">
                    <a:lumMod val="2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API Doucumentation Screenshot</a:t>
            </a:r>
            <a:endParaRPr lang="en-US" altLang="zh-CN" b="1">
              <a:solidFill>
                <a:schemeClr val="bg2">
                  <a:lumMod val="2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6010275" y="2055495"/>
            <a:ext cx="1650365" cy="448310"/>
          </a:xfrm>
          <a:prstGeom prst="rightArrow">
            <a:avLst/>
          </a:prstGeom>
          <a:solidFill>
            <a:schemeClr val="bg2"/>
          </a:solidFill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en-US" altLang="zh-CN" b="1">
              <a:solidFill>
                <a:schemeClr val="bg2">
                  <a:lumMod val="25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7881620" y="1565275"/>
            <a:ext cx="4025900" cy="1252220"/>
          </a:xfrm>
          <a:prstGeom prst="roundRect">
            <a:avLst/>
          </a:prstGeom>
          <a:solidFill>
            <a:schemeClr val="bg2"/>
          </a:solidFill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zh-CN">
                <a:solidFill>
                  <a:schemeClr val="bg2">
                    <a:lumMod val="2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Standardized CRUD endpoints for </a:t>
            </a:r>
            <a:r>
              <a:rPr lang="en-US" altLang="zh-CN" b="1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secure daily data ingestion, paginated retrieval, and anomaly correction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.</a:t>
            </a:r>
            <a:endParaRPr lang="en-US" altLang="zh-CN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右箭头 16"/>
          <p:cNvSpPr/>
          <p:nvPr/>
        </p:nvSpPr>
        <p:spPr>
          <a:xfrm>
            <a:off x="6010275" y="4314190"/>
            <a:ext cx="1650365" cy="448310"/>
          </a:xfrm>
          <a:prstGeom prst="rightArrow">
            <a:avLst/>
          </a:prstGeom>
          <a:solidFill>
            <a:schemeClr val="bg2"/>
          </a:solidFill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en-US" altLang="zh-CN" b="1">
              <a:solidFill>
                <a:schemeClr val="bg2">
                  <a:lumMod val="25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881620" y="3856990"/>
            <a:ext cx="4025900" cy="1362710"/>
          </a:xfrm>
          <a:prstGeom prst="roundRect">
            <a:avLst/>
          </a:prstGeom>
          <a:solidFill>
            <a:schemeClr val="bg2"/>
          </a:solidFill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zh-CN">
                <a:solidFill>
                  <a:schemeClr val="bg2">
                    <a:lumMod val="2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High-level endpoints delivering </a:t>
            </a:r>
            <a:r>
              <a:rPr lang="en-US" altLang="zh-CN" b="1">
                <a:solidFill>
                  <a:schemeClr val="accent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predictive behavioral simulations, individual percentile rankings</a:t>
            </a:r>
            <a:r>
              <a:rPr lang="en-US" altLang="zh-CN">
                <a:solidFill>
                  <a:schemeClr val="accent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, </a:t>
            </a:r>
            <a:r>
              <a:rPr lang="en-US" altLang="zh-CN">
                <a:solidFill>
                  <a:schemeClr val="bg2">
                    <a:lumMod val="2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and </a:t>
            </a:r>
            <a:r>
              <a:rPr lang="en-US" altLang="zh-CN" b="1">
                <a:solidFill>
                  <a:schemeClr val="accent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macro-population health trends.</a:t>
            </a:r>
            <a:endParaRPr lang="en-US" altLang="zh-CN" b="1">
              <a:solidFill>
                <a:schemeClr val="accent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对角圆角矩形 4"/>
          <p:cNvSpPr/>
          <p:nvPr/>
        </p:nvSpPr>
        <p:spPr>
          <a:xfrm>
            <a:off x="128270" y="6350"/>
            <a:ext cx="4199255" cy="592455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4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Technical Report Highlights</a:t>
            </a:r>
            <a:endParaRPr lang="en-US" altLang="zh-CN" sz="24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 3"/>
          <p:cNvSpPr/>
          <p:nvPr>
            <p:custDataLst>
              <p:tags r:id="rId1"/>
            </p:custDataLst>
          </p:nvPr>
        </p:nvSpPr>
        <p:spPr>
          <a:xfrm>
            <a:off x="283210" y="1097915"/>
            <a:ext cx="3703320" cy="52933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椭圆 5"/>
          <p:cNvSpPr/>
          <p:nvPr>
            <p:custDataLst>
              <p:tags r:id="rId2"/>
            </p:custDataLst>
          </p:nvPr>
        </p:nvSpPr>
        <p:spPr>
          <a:xfrm>
            <a:off x="45085" y="838200"/>
            <a:ext cx="492125" cy="487045"/>
          </a:xfrm>
          <a:prstGeom prst="ellipse">
            <a:avLst/>
          </a:prstGeom>
          <a:solidFill>
            <a:schemeClr val="accent4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4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1</a:t>
            </a:r>
            <a:endParaRPr lang="en-US" altLang="zh-CN" b="1">
              <a:solidFill>
                <a:schemeClr val="accent4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283210" y="1097915"/>
            <a:ext cx="3703320" cy="84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400" b="1">
                <a:solidFill>
                  <a:schemeClr val="accent4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Security</a:t>
            </a:r>
            <a:endParaRPr lang="en-US" altLang="zh-CN" sz="2400" b="1">
              <a:solidFill>
                <a:schemeClr val="accent4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1">
                <a:solidFill>
                  <a:schemeClr val="accent4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JWT-Based Authentication: </a:t>
            </a:r>
            <a:endParaRPr lang="en-US" altLang="zh-CN" sz="1600" b="1" i="1">
              <a:solidFill>
                <a:schemeClr val="accent4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1">
                <a:solidFill>
                  <a:schemeClr val="accent4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Security &amp; Isolation</a:t>
            </a:r>
            <a:br>
              <a:rPr lang="en-US" altLang="zh-CN" sz="1600" b="1" i="1">
                <a:solidFill>
                  <a:schemeClr val="accent4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</a:br>
            <a:endParaRPr lang="en-US" altLang="zh-CN" sz="1600" b="1" i="1">
              <a:solidFill>
                <a:schemeClr val="accent4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285750" y="4084955"/>
            <a:ext cx="3852545" cy="2458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JWT </a:t>
            </a:r>
            <a:r>
              <a:rPr lang="en-US" altLang="zh-CN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enables stateless authentication. </a:t>
            </a:r>
            <a:endParaRPr lang="en-US" altLang="zh-CN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ThreadLocal </a:t>
            </a:r>
            <a:r>
              <a:rPr lang="en-US" altLang="zh-CN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context secures identity extraction</a:t>
            </a:r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.</a:t>
            </a:r>
            <a:endParaRPr lang="en-US" altLang="zh-CN" b="1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Strict </a:t>
            </a:r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user_id</a:t>
            </a:r>
            <a:r>
              <a:rPr lang="en-US" altLang="zh-CN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binding neutralizes IDOR.</a:t>
            </a:r>
            <a:endParaRPr lang="zh-CN" altLang="en-US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矩形 28"/>
          <p:cNvSpPr/>
          <p:nvPr>
            <p:custDataLst>
              <p:tags r:id="rId5"/>
            </p:custDataLst>
          </p:nvPr>
        </p:nvSpPr>
        <p:spPr>
          <a:xfrm>
            <a:off x="4327525" y="1097915"/>
            <a:ext cx="3703320" cy="52933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椭圆 29"/>
          <p:cNvSpPr/>
          <p:nvPr>
            <p:custDataLst>
              <p:tags r:id="rId6"/>
            </p:custDataLst>
          </p:nvPr>
        </p:nvSpPr>
        <p:spPr>
          <a:xfrm>
            <a:off x="4089400" y="838200"/>
            <a:ext cx="492125" cy="48704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2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2</a:t>
            </a:r>
            <a:endParaRPr lang="en-US" altLang="zh-CN" b="1">
              <a:solidFill>
                <a:schemeClr val="accent2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4327525" y="1097915"/>
            <a:ext cx="3703320" cy="84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Performance</a:t>
            </a:r>
            <a:endParaRPr lang="en-US" altLang="zh-CN" sz="2400" b="1">
              <a:solidFill>
                <a:schemeClr val="accent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1">
                <a:solidFill>
                  <a:schemeClr val="accent2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Database Offloading: Performance Optimization</a:t>
            </a:r>
            <a:endParaRPr lang="en-US" altLang="zh-CN" sz="1600" b="1" i="1">
              <a:solidFill>
                <a:schemeClr val="accent2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>
            <p:custDataLst>
              <p:tags r:id="rId8"/>
            </p:custDataLst>
          </p:nvPr>
        </p:nvSpPr>
        <p:spPr>
          <a:xfrm>
            <a:off x="4326255" y="3869055"/>
            <a:ext cx="3703320" cy="24161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accent2"/>
                </a:solidFill>
                <a:latin typeface="Times New Roman" panose="02020603050405020304" charset="0"/>
                <a:cs typeface="Times New Roman" panose="02020603050405020304" charset="0"/>
              </a:rPr>
              <a:t>Offloaded complex aggregations (e.g., efficiency distribution) to MySQL using </a:t>
            </a:r>
            <a:r>
              <a:rPr lang="en-US" altLang="zh-CN" b="1">
                <a:solidFill>
                  <a:schemeClr val="accent2"/>
                </a:solidFill>
                <a:latin typeface="Times New Roman" panose="02020603050405020304" charset="0"/>
                <a:cs typeface="Times New Roman" panose="02020603050405020304" charset="0"/>
              </a:rPr>
              <a:t>native SQL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charset="0"/>
                <a:cs typeface="Times New Roman" panose="02020603050405020304" charset="0"/>
              </a:rPr>
              <a:t>. </a:t>
            </a:r>
            <a:endParaRPr lang="en-US" altLang="zh-CN">
              <a:solidFill>
                <a:schemeClr val="accent2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accent2"/>
                </a:solidFill>
                <a:latin typeface="Times New Roman" panose="02020603050405020304" charset="0"/>
                <a:cs typeface="Times New Roman" panose="02020603050405020304" charset="0"/>
              </a:rPr>
              <a:t>This achieves </a:t>
            </a:r>
            <a:r>
              <a:rPr lang="en-US" altLang="zh-CN" b="1">
                <a:solidFill>
                  <a:schemeClr val="accent2"/>
                </a:solidFill>
                <a:latin typeface="Times New Roman" panose="02020603050405020304" charset="0"/>
                <a:cs typeface="Times New Roman" panose="02020603050405020304" charset="0"/>
              </a:rPr>
              <a:t>O(1)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charset="0"/>
                <a:cs typeface="Times New Roman" panose="02020603050405020304" charset="0"/>
              </a:rPr>
              <a:t> application memory complexity and prevents </a:t>
            </a:r>
            <a:r>
              <a:rPr lang="en-US" altLang="zh-CN" b="1">
                <a:solidFill>
                  <a:schemeClr val="accent2"/>
                </a:solidFill>
                <a:highlight>
                  <a:srgbClr val="FFFF00"/>
                </a:highlight>
                <a:latin typeface="Century Schoolbook" panose="02040604050505020304" charset="0"/>
                <a:cs typeface="Century Schoolbook" panose="02040604050505020304" charset="0"/>
              </a:rPr>
              <a:t>OutOfMemoryErrors</a:t>
            </a:r>
            <a:r>
              <a:rPr lang="en-US" altLang="zh-CN" b="1">
                <a:solidFill>
                  <a:schemeClr val="accent2"/>
                </a:solidFill>
                <a:latin typeface="Century Schoolbook" panose="02040604050505020304" charset="0"/>
                <a:cs typeface="Century Schoolbook" panose="02040604050505020304" charset="0"/>
              </a:rPr>
              <a:t> 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charset="0"/>
                <a:cs typeface="Times New Roman" panose="02020603050405020304" charset="0"/>
              </a:rPr>
              <a:t>when processing 15,000+ records.</a:t>
            </a:r>
            <a:endParaRPr lang="en-US" altLang="zh-CN">
              <a:solidFill>
                <a:schemeClr val="accent2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5" name="矩形 34"/>
          <p:cNvSpPr/>
          <p:nvPr>
            <p:custDataLst>
              <p:tags r:id="rId9"/>
            </p:custDataLst>
          </p:nvPr>
        </p:nvSpPr>
        <p:spPr>
          <a:xfrm>
            <a:off x="8369300" y="1097915"/>
            <a:ext cx="3703320" cy="52933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椭圆 35"/>
          <p:cNvSpPr/>
          <p:nvPr>
            <p:custDataLst>
              <p:tags r:id="rId10"/>
            </p:custDataLst>
          </p:nvPr>
        </p:nvSpPr>
        <p:spPr>
          <a:xfrm>
            <a:off x="8131175" y="838200"/>
            <a:ext cx="492125" cy="487045"/>
          </a:xfrm>
          <a:prstGeom prst="ellipse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1">
                    <a:lumMod val="20000"/>
                    <a:lumOff val="8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3</a:t>
            </a:r>
            <a:endParaRPr lang="en-US" altLang="zh-CN" b="1">
              <a:solidFill>
                <a:schemeClr val="accent1">
                  <a:lumMod val="20000"/>
                  <a:lumOff val="8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11"/>
            </p:custDataLst>
          </p:nvPr>
        </p:nvSpPr>
        <p:spPr>
          <a:xfrm>
            <a:off x="8369300" y="1097915"/>
            <a:ext cx="3703320" cy="84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4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Innovation</a:t>
            </a:r>
            <a:endParaRPr lang="en-US" altLang="zh-CN" sz="24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Deterministic Rule Engine: Predictive Simulation</a:t>
            </a:r>
            <a:endParaRPr lang="en-US" altLang="zh-CN" sz="1600" b="1" i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文本框 39"/>
          <p:cNvSpPr txBox="1"/>
          <p:nvPr>
            <p:custDataLst>
              <p:tags r:id="rId12"/>
            </p:custDataLst>
          </p:nvPr>
        </p:nvSpPr>
        <p:spPr>
          <a:xfrm>
            <a:off x="8369300" y="4287520"/>
            <a:ext cx="3703320" cy="14198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In-memory engine delivering instantaneous </a:t>
            </a:r>
            <a:r>
              <a:rPr lang="en-US" altLang="zh-CN" b="1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"what-if" health projections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 with zero database I/O latency.</a:t>
            </a:r>
            <a:endParaRPr lang="en-US" altLang="zh-CN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4406265" y="2300605"/>
            <a:ext cx="3543300" cy="1427480"/>
          </a:xfrm>
          <a:prstGeom prst="rect">
            <a:avLst/>
          </a:prstGeom>
        </p:spPr>
      </p:pic>
      <p:pic>
        <p:nvPicPr>
          <p:cNvPr id="43" name="图片 42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8705850" y="2300605"/>
            <a:ext cx="3030855" cy="205295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18490" y="2300605"/>
            <a:ext cx="3031490" cy="17843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对角圆角矩形 4"/>
          <p:cNvSpPr/>
          <p:nvPr/>
        </p:nvSpPr>
        <p:spPr>
          <a:xfrm>
            <a:off x="128270" y="6350"/>
            <a:ext cx="4199255" cy="592455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4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Limitations &amp; Future Work</a:t>
            </a:r>
            <a:endParaRPr lang="en-US" altLang="zh-CN" sz="24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流程图: 过程 3"/>
          <p:cNvSpPr/>
          <p:nvPr/>
        </p:nvSpPr>
        <p:spPr>
          <a:xfrm>
            <a:off x="412750" y="887730"/>
            <a:ext cx="5133975" cy="5554345"/>
          </a:xfrm>
          <a:prstGeom prst="flowChartProcess">
            <a:avLst/>
          </a:prstGeom>
          <a:solidFill>
            <a:schemeClr val="bg2"/>
          </a:solidFill>
          <a:ln w="28575">
            <a:solidFill>
              <a:schemeClr val="accent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535305" y="931545"/>
            <a:ext cx="4856480" cy="54864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Limitations</a:t>
            </a: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图片 6" descr="警告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4020" y="975360"/>
            <a:ext cx="454025" cy="454025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535305" y="1805940"/>
            <a:ext cx="4856480" cy="64643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1. </a:t>
            </a:r>
            <a:r>
              <a:rPr lang="en-US" altLang="zh-CN" sz="1400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Stateless logout lacks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active token revocation</a:t>
            </a:r>
            <a:r>
              <a:rPr lang="en-US" altLang="zh-CN" sz="1400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. Limited robustness against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complex security challenges</a:t>
            </a:r>
            <a:r>
              <a:rPr lang="en-US" altLang="zh-CN" sz="1400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.</a:t>
            </a:r>
            <a:endParaRPr lang="en-US" altLang="zh-CN" sz="1400">
              <a:solidFill>
                <a:schemeClr val="accent6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35305" y="2625090"/>
            <a:ext cx="4856480" cy="54864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zh-CN" sz="1400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Complex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nested subqueries</a:t>
            </a:r>
            <a:r>
              <a:rPr lang="en-US" altLang="zh-CN" sz="1400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(e.g., percentile rankings) strain MySQL CPU under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high concurrent</a:t>
            </a:r>
            <a:r>
              <a:rPr lang="en-US" altLang="zh-CN" sz="1400">
                <a:solidFill>
                  <a:schemeClr val="accent6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traffic.</a:t>
            </a:r>
            <a:endParaRPr lang="en-US" altLang="zh-CN" sz="1400">
              <a:solidFill>
                <a:schemeClr val="accent6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对角圆角矩形 9"/>
          <p:cNvSpPr/>
          <p:nvPr/>
        </p:nvSpPr>
        <p:spPr>
          <a:xfrm>
            <a:off x="534670" y="3528695"/>
            <a:ext cx="4857115" cy="2436495"/>
          </a:xfrm>
          <a:prstGeom prst="round2Diag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圆角矩形 10"/>
          <p:cNvSpPr/>
          <p:nvPr/>
        </p:nvSpPr>
        <p:spPr>
          <a:xfrm>
            <a:off x="633730" y="4707255"/>
            <a:ext cx="1134745" cy="504825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bg2">
                    <a:lumMod val="2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Client</a:t>
            </a:r>
            <a:endParaRPr lang="en-US" altLang="zh-CN" b="1">
              <a:solidFill>
                <a:schemeClr val="bg2">
                  <a:lumMod val="2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2" name="图片 11" descr="客户端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3260" y="4827905"/>
            <a:ext cx="265430" cy="265430"/>
          </a:xfrm>
          <a:prstGeom prst="rect">
            <a:avLst/>
          </a:prstGeom>
        </p:spPr>
      </p:pic>
      <p:sp>
        <p:nvSpPr>
          <p:cNvPr id="13" name="右箭头 12"/>
          <p:cNvSpPr/>
          <p:nvPr/>
        </p:nvSpPr>
        <p:spPr>
          <a:xfrm>
            <a:off x="1879600" y="4896485"/>
            <a:ext cx="288290" cy="1270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圆角矩形 13"/>
          <p:cNvSpPr/>
          <p:nvPr/>
        </p:nvSpPr>
        <p:spPr>
          <a:xfrm>
            <a:off x="2279015" y="4707890"/>
            <a:ext cx="1238885" cy="50419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Spring</a:t>
            </a:r>
            <a:endParaRPr lang="en-US" altLang="zh-CN" b="1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Boot</a:t>
            </a:r>
            <a:endParaRPr lang="en-US" altLang="zh-CN" b="1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5" name="图片 14" descr="springboo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22195" y="4807585"/>
            <a:ext cx="334010" cy="334010"/>
          </a:xfrm>
          <a:prstGeom prst="rect">
            <a:avLst/>
          </a:prstGeom>
        </p:spPr>
      </p:pic>
      <p:sp>
        <p:nvSpPr>
          <p:cNvPr id="16" name="右箭头 15"/>
          <p:cNvSpPr/>
          <p:nvPr/>
        </p:nvSpPr>
        <p:spPr>
          <a:xfrm>
            <a:off x="3629025" y="4896485"/>
            <a:ext cx="288290" cy="1270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圆角矩形 16"/>
          <p:cNvSpPr/>
          <p:nvPr/>
        </p:nvSpPr>
        <p:spPr>
          <a:xfrm>
            <a:off x="4028440" y="4708525"/>
            <a:ext cx="1173480" cy="50355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16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MySQL</a:t>
            </a:r>
            <a:endParaRPr lang="en-US" altLang="zh-CN" sz="16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683260" y="3620770"/>
            <a:ext cx="4403090" cy="42672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Current Architecture</a:t>
            </a: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9" name="图片 18" descr="mysql (3)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0985" y="4821555"/>
            <a:ext cx="271780" cy="271780"/>
          </a:xfrm>
          <a:prstGeom prst="rect">
            <a:avLst/>
          </a:prstGeom>
        </p:spPr>
      </p:pic>
      <p:sp>
        <p:nvSpPr>
          <p:cNvPr id="20" name="流程图: 过程 19"/>
          <p:cNvSpPr/>
          <p:nvPr/>
        </p:nvSpPr>
        <p:spPr>
          <a:xfrm>
            <a:off x="6316980" y="887730"/>
            <a:ext cx="5365750" cy="5554345"/>
          </a:xfrm>
          <a:prstGeom prst="flowChartProcess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圆角矩形 20"/>
          <p:cNvSpPr/>
          <p:nvPr/>
        </p:nvSpPr>
        <p:spPr>
          <a:xfrm>
            <a:off x="6499860" y="931545"/>
            <a:ext cx="5028565" cy="54864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Future Work</a:t>
            </a: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6499225" y="1805940"/>
            <a:ext cx="5029200" cy="5486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1. </a:t>
            </a:r>
            <a:r>
              <a:rPr lang="en-US" altLang="zh-CN" sz="1400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Integrate </a:t>
            </a:r>
            <a:r>
              <a:rPr lang="en-US" altLang="zh-CN" sz="1400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Spring Security</a:t>
            </a:r>
            <a:r>
              <a:rPr lang="en-US" altLang="zh-CN" sz="1400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for robust, and a </a:t>
            </a:r>
            <a:r>
              <a:rPr lang="en-US" altLang="zh-CN" sz="1400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Redis-based blacklist</a:t>
            </a:r>
            <a:r>
              <a:rPr lang="en-US" altLang="zh-CN" sz="1400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for forced logout.</a:t>
            </a:r>
            <a:endParaRPr lang="zh-CN" altLang="en-US" sz="1400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4" name="圆角矩形 23"/>
          <p:cNvSpPr/>
          <p:nvPr/>
        </p:nvSpPr>
        <p:spPr>
          <a:xfrm>
            <a:off x="6499225" y="2625090"/>
            <a:ext cx="5029200" cy="5486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400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2. </a:t>
            </a:r>
            <a:r>
              <a:rPr lang="en-US" altLang="zh-CN" sz="1400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Introduce a </a:t>
            </a:r>
            <a:r>
              <a:rPr lang="en-US" altLang="zh-CN" sz="1400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Redis </a:t>
            </a:r>
            <a:r>
              <a:rPr lang="en-US" altLang="zh-CN" sz="1400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in-memory caching layer via </a:t>
            </a:r>
            <a:r>
              <a:rPr lang="en-US" altLang="zh-CN" sz="1400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Spring Cache</a:t>
            </a:r>
            <a:r>
              <a:rPr lang="en-US" altLang="zh-CN" sz="1400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to serve macro-analytics.</a:t>
            </a:r>
            <a:endParaRPr lang="en-US" altLang="zh-CN" sz="1400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5" name="对角圆角矩形 24"/>
          <p:cNvSpPr/>
          <p:nvPr/>
        </p:nvSpPr>
        <p:spPr>
          <a:xfrm>
            <a:off x="6498590" y="3528695"/>
            <a:ext cx="5030470" cy="2436495"/>
          </a:xfrm>
          <a:prstGeom prst="round2Diag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圆角矩形 25"/>
          <p:cNvSpPr/>
          <p:nvPr/>
        </p:nvSpPr>
        <p:spPr>
          <a:xfrm>
            <a:off x="6836410" y="5313680"/>
            <a:ext cx="1134745" cy="504825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bg2">
                    <a:lumMod val="2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Client</a:t>
            </a:r>
            <a:endParaRPr lang="en-US" altLang="zh-CN" b="1">
              <a:solidFill>
                <a:schemeClr val="bg2">
                  <a:lumMod val="2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7" name="图片 26" descr="客户端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5940" y="5434330"/>
            <a:ext cx="265430" cy="265430"/>
          </a:xfrm>
          <a:prstGeom prst="rect">
            <a:avLst/>
          </a:prstGeom>
        </p:spPr>
      </p:pic>
      <p:sp>
        <p:nvSpPr>
          <p:cNvPr id="28" name="右箭头 27"/>
          <p:cNvSpPr/>
          <p:nvPr/>
        </p:nvSpPr>
        <p:spPr>
          <a:xfrm rot="16200000">
            <a:off x="7505700" y="4976495"/>
            <a:ext cx="288290" cy="1270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8381365" y="5313680"/>
            <a:ext cx="1238885" cy="50419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Spring</a:t>
            </a:r>
            <a:endParaRPr lang="en-US" altLang="zh-CN" b="1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Boot</a:t>
            </a:r>
            <a:endParaRPr lang="en-US" altLang="zh-CN" b="1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0" name="图片 29" descr="springboo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24545" y="5413375"/>
            <a:ext cx="334010" cy="334010"/>
          </a:xfrm>
          <a:prstGeom prst="rect">
            <a:avLst/>
          </a:prstGeom>
        </p:spPr>
      </p:pic>
      <p:sp>
        <p:nvSpPr>
          <p:cNvPr id="32" name="圆角矩形 31"/>
          <p:cNvSpPr/>
          <p:nvPr/>
        </p:nvSpPr>
        <p:spPr>
          <a:xfrm>
            <a:off x="10115550" y="5313680"/>
            <a:ext cx="1173480" cy="50355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1600" b="1">
                <a:solidFill>
                  <a:schemeClr val="accent1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MySQL</a:t>
            </a:r>
            <a:endParaRPr lang="en-US" altLang="zh-CN" sz="1600" b="1">
              <a:solidFill>
                <a:schemeClr val="accent1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6885940" y="3620770"/>
            <a:ext cx="4403090" cy="42672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Future Architecture</a:t>
            </a: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4" name="图片 33" descr="mysql (3)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58095" y="5426710"/>
            <a:ext cx="271780" cy="271780"/>
          </a:xfrm>
          <a:prstGeom prst="rect">
            <a:avLst/>
          </a:prstGeom>
        </p:spPr>
      </p:pic>
      <p:pic>
        <p:nvPicPr>
          <p:cNvPr id="35" name="图片 34" descr="灯泡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31760" y="887730"/>
            <a:ext cx="581660" cy="581660"/>
          </a:xfrm>
          <a:prstGeom prst="rect">
            <a:avLst/>
          </a:prstGeom>
        </p:spPr>
      </p:pic>
      <p:sp>
        <p:nvSpPr>
          <p:cNvPr id="36" name="圆角矩形 35"/>
          <p:cNvSpPr/>
          <p:nvPr/>
        </p:nvSpPr>
        <p:spPr>
          <a:xfrm>
            <a:off x="7441565" y="4175125"/>
            <a:ext cx="1443990" cy="59118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Spring</a:t>
            </a:r>
            <a:endParaRPr lang="en-US" altLang="zh-CN" b="1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 b="1">
                <a:solidFill>
                  <a:schemeClr val="accent4">
                    <a:lumMod val="7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     Security</a:t>
            </a:r>
            <a:endParaRPr lang="en-US" altLang="zh-CN" b="1">
              <a:solidFill>
                <a:schemeClr val="accent4">
                  <a:lumMod val="75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7" name="图片 36" descr="spring-security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03795" y="4264660"/>
            <a:ext cx="376555" cy="376555"/>
          </a:xfrm>
          <a:prstGeom prst="rect">
            <a:avLst/>
          </a:prstGeom>
        </p:spPr>
      </p:pic>
      <p:sp>
        <p:nvSpPr>
          <p:cNvPr id="38" name="右箭头 37"/>
          <p:cNvSpPr/>
          <p:nvPr/>
        </p:nvSpPr>
        <p:spPr>
          <a:xfrm rot="5400000" flipV="1">
            <a:off x="8551545" y="4976495"/>
            <a:ext cx="288290" cy="1270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右箭头 38"/>
          <p:cNvSpPr/>
          <p:nvPr/>
        </p:nvSpPr>
        <p:spPr>
          <a:xfrm rot="16200000">
            <a:off x="9303385" y="4976495"/>
            <a:ext cx="288290" cy="1270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右箭头 39"/>
          <p:cNvSpPr/>
          <p:nvPr/>
        </p:nvSpPr>
        <p:spPr>
          <a:xfrm rot="5400000" flipV="1">
            <a:off x="10349230" y="4976495"/>
            <a:ext cx="288290" cy="1270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圆角矩形 42"/>
          <p:cNvSpPr/>
          <p:nvPr/>
        </p:nvSpPr>
        <p:spPr>
          <a:xfrm>
            <a:off x="9300845" y="4175125"/>
            <a:ext cx="1339850" cy="55943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C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</a:rPr>
              <a:t>      Redis</a:t>
            </a:r>
            <a:endParaRPr lang="en-US" altLang="zh-CN" b="1">
              <a:solidFill>
                <a:srgbClr val="C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5" name="图片 44" descr="redis (1)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387840" y="4309745"/>
            <a:ext cx="354965" cy="306070"/>
          </a:xfrm>
          <a:prstGeom prst="rect">
            <a:avLst/>
          </a:prstGeom>
        </p:spPr>
      </p:pic>
      <p:sp>
        <p:nvSpPr>
          <p:cNvPr id="46" name="燕尾形箭头 45"/>
          <p:cNvSpPr/>
          <p:nvPr/>
        </p:nvSpPr>
        <p:spPr>
          <a:xfrm>
            <a:off x="5104130" y="3173730"/>
            <a:ext cx="1620520" cy="593090"/>
          </a:xfrm>
          <a:prstGeom prst="notchedRightArrow">
            <a:avLst/>
          </a:prstGeom>
          <a:solidFill>
            <a:schemeClr val="accent1">
              <a:alpha val="7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对角圆角矩形 4"/>
          <p:cNvSpPr/>
          <p:nvPr/>
        </p:nvSpPr>
        <p:spPr>
          <a:xfrm>
            <a:off x="128270" y="6350"/>
            <a:ext cx="4199255" cy="592455"/>
          </a:xfrm>
          <a:prstGeom prst="round2Diag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Reference</a:t>
            </a:r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</a:t>
            </a:r>
            <a:endParaRPr lang="en-US" altLang="zh-CN" sz="2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3040" y="986155"/>
            <a:ext cx="116052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[1].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Parashar, M., 2024. Close to realistic Calorie efficiency dataset. [dataset] Kaggle. Available at: https://www.kaggle.com/datasets/parasharmanu/close-to-realistic-calorie-efficiency-dataset [Accessed 10 April 2026].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2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3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4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5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6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7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8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9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10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11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12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13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14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ags/tag15.xml><?xml version="1.0" encoding="utf-8"?>
<p:tagLst xmlns:p="http://schemas.openxmlformats.org/presentationml/2006/main">
  <p:tag name="KSO_WM_DIAGRAM_VIRTUALLY_FRAME" val="{&quot;height&quot;:461.85,&quot;left&quot;:3.55,&quot;top&quot;:66,&quot;width&quot;:947.0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2339</Words>
  <Application>WPS 演示</Application>
  <PresentationFormat>宽屏</PresentationFormat>
  <Paragraphs>120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Times New Roman</vt:lpstr>
      <vt:lpstr>Century Schoolbook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胡勋</dc:creator>
  <cp:lastModifiedBy>WPS_1660386504</cp:lastModifiedBy>
  <cp:revision>25</cp:revision>
  <dcterms:created xsi:type="dcterms:W3CDTF">2023-08-09T12:44:00Z</dcterms:created>
  <dcterms:modified xsi:type="dcterms:W3CDTF">2026-04-14T04:17:00Z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32A50AAEF98A4F3C923FC2E5BBA21EDA_12</vt:lpwstr>
  </property>
</Properties>
</file>